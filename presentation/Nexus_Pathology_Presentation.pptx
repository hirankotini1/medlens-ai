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97280" y="914400"/>
            <a:ext cx="9997135" cy="5029200"/>
          </a:xfrm>
          <a:prstGeom prst="roundRect">
            <a:avLst/>
          </a:prstGeom>
          <a:solidFill>
            <a:srgbClr val="111827"/>
          </a:solidFill>
          <a:ln w="1905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463040" y="1188720"/>
            <a:ext cx="9265615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F8FAFC"/>
                </a:solidFill>
              </a:defRPr>
            </a:pPr>
            <a:r>
              <a:t>🔬 NEXUS PATHOLOGY</a:t>
            </a:r>
          </a:p>
          <a:p>
            <a:pPr>
              <a:spcBef>
                <a:spcPts val="1000"/>
              </a:spcBef>
              <a:defRPr sz="1800" b="1">
                <a:solidFill>
                  <a:srgbClr val="6366F1"/>
                </a:solidFill>
              </a:defRPr>
            </a:pPr>
            <a:r>
              <a:t>Diagnostic Center &amp; Experimental Clinical ML Decision Support Platform</a:t>
            </a:r>
          </a:p>
          <a:p>
            <a:pPr>
              <a:spcBef>
                <a:spcPts val="1400"/>
              </a:spcBef>
              <a:defRPr sz="1200">
                <a:solidFill>
                  <a:srgbClr val="94A3B8"/>
                </a:solidFill>
              </a:defRPr>
            </a:pPr>
            <a:r>
              <a:t>A secure, decoupled digital laboratory management system integrating five disease-specific machine learning pipelines with official pathology workflows.</a:t>
            </a:r>
          </a:p>
          <a:p>
            <a:pPr>
              <a:spcBef>
                <a:spcPts val="2800"/>
              </a:spcBef>
              <a:defRPr sz="1100">
                <a:solidFill>
                  <a:srgbClr val="06B6D4"/>
                </a:solidFill>
              </a:defRPr>
            </a:pPr>
            <a:r>
              <a:t>Project Team: [Student Name(s) / Roll Numbers]  |  Academic Year: 2025–2026</a:t>
            </a:r>
            <a:br/>
            <a:r>
              <a:t>Department: Department of Computer Science &amp; Engineering</a:t>
            </a:r>
            <a:br/>
            <a:r>
              <a:t>Institution: [College / University Name]</a:t>
            </a:r>
          </a:p>
          <a:p>
            <a:pPr>
              <a:spcBef>
                <a:spcPts val="2000"/>
              </a:spcBef>
              <a:defRPr sz="950">
                <a:solidFill>
                  <a:srgbClr val="F59E0B"/>
                </a:solidFill>
              </a:defRPr>
            </a:pPr>
            <a:r>
              <a:t>⚠️ Research &amp; Educational Notice: Developed for academic decision support; not an autonomous clinical diagnostic device.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6366F1"/>
                </a:solidFill>
              </a:defRPr>
            </a:pPr>
            <a:r>
              <a:t>NEXUS PATHOLOGY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8FAFC"/>
                </a:solidFill>
              </a:defRPr>
            </a:pPr>
            <a:r>
              <a:t>Problem Statement &amp; Clinical Motivation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5120640" cy="2286000"/>
          </a:xfrm>
          <a:prstGeom prst="roundRect">
            <a:avLst/>
          </a:prstGeom>
          <a:solidFill>
            <a:srgbClr val="111827"/>
          </a:solidFill>
          <a:ln w="1905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600200"/>
            <a:ext cx="475487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6B6D4"/>
                </a:solidFill>
              </a:defRPr>
            </a:pPr>
            <a:r>
              <a:t>📄 Fragmented Laboratory Records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011680"/>
            <a:ext cx="4754879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94A3B8"/>
                </a:solidFill>
              </a:defRPr>
            </a:pPr>
            <a:r>
              <a:t>Traditional pathology centers often rely on paper slips or isolated spreadsheets, leading to delayed medical follow-ups, lost historical records, and transcription errors.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463040"/>
            <a:ext cx="5120640" cy="2286000"/>
          </a:xfrm>
          <a:prstGeom prst="roundRect">
            <a:avLst/>
          </a:prstGeom>
          <a:solidFill>
            <a:srgbClr val="111827"/>
          </a:solidFill>
          <a:ln w="1905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1600200"/>
            <a:ext cx="475487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6B6D4"/>
                </a:solidFill>
              </a:defRPr>
            </a:pPr>
            <a:r>
              <a:t>🔒 Insecure Patient Report Access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2011680"/>
            <a:ext cx="4754879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94A3B8"/>
                </a:solidFill>
              </a:defRPr>
            </a:pPr>
            <a:r>
              <a:t>Patients face significant friction accessing diagnostic findings. Unencrypted email attachments and unauthenticated URLs expose sensitive medical data to unauthorized access.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4023360"/>
            <a:ext cx="5120640" cy="2194560"/>
          </a:xfrm>
          <a:prstGeom prst="roundRect">
            <a:avLst/>
          </a:prstGeom>
          <a:solidFill>
            <a:srgbClr val="111827"/>
          </a:solidFill>
          <a:ln w="1905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4160520"/>
            <a:ext cx="475487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6B6D4"/>
                </a:solidFill>
              </a:defRPr>
            </a:pPr>
            <a:r>
              <a:t>📊 Unstructured Biochemical Data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4572000"/>
            <a:ext cx="4754879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94A3B8"/>
                </a:solidFill>
              </a:defRPr>
            </a:pPr>
            <a:r>
              <a:t>Laboratory results are rarely stored with structured parameters, reference intervals, or flags, preventing automated validation and computational trend analysis.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0" y="4023360"/>
            <a:ext cx="5120640" cy="2194560"/>
          </a:xfrm>
          <a:prstGeom prst="roundRect">
            <a:avLst/>
          </a:prstGeom>
          <a:solidFill>
            <a:srgbClr val="111827"/>
          </a:solidFill>
          <a:ln w="1905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0" y="4160520"/>
            <a:ext cx="475487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6B6D4"/>
                </a:solidFill>
              </a:defRPr>
            </a:pPr>
            <a:r>
              <a:t>⚡ AI Disconnect &amp; Diagnostic Overreach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4572000"/>
            <a:ext cx="4754879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94A3B8"/>
                </a:solidFill>
              </a:defRPr>
            </a:pPr>
            <a:r>
              <a:t>Existing AI healthcare tools often fail to separate official clinical records from probabilistic outputs, creating medical and legal liabilities without auditability.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6366F1"/>
                </a:solidFill>
              </a:defRPr>
            </a:pPr>
            <a:r>
              <a:t>NEXUS PATHOLOGY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8FAFC"/>
                </a:solidFill>
              </a:defRPr>
            </a:pPr>
            <a:r>
              <a:t>Project Objectives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10698480" cy="4754880"/>
          </a:xfrm>
          <a:prstGeom prst="roundRect">
            <a:avLst/>
          </a:prstGeom>
          <a:solidFill>
            <a:srgbClr val="111827"/>
          </a:solidFill>
          <a:ln w="1905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737360"/>
            <a:ext cx="101498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sz="1150">
                <a:solidFill>
                  <a:srgbClr val="F8FAFC"/>
                </a:solidFill>
              </a:defRPr>
            </a:pPr>
            <a:r>
              <a:t>1. Digitize Laboratory Workflows: Provide operational interfaces for staff to register patients, enter structured laboratory parameters, and manage report lifecycles (Draft vs. Finalized).</a:t>
            </a:r>
          </a:p>
          <a:p>
            <a:pPr>
              <a:spcBef>
                <a:spcPts val="1200"/>
              </a:spcBef>
              <a:defRPr sz="1150">
                <a:solidFill>
                  <a:srgbClr val="F8FAFC"/>
                </a:solidFill>
              </a:defRPr>
            </a:pPr>
            <a:r>
              <a:t>2. Secure Patient Access &amp; Privacy: Implement authenticated patient access with cryptographic PBKDF2 hashing, signed session tokens, and strict IDOR prevention.</a:t>
            </a:r>
          </a:p>
          <a:p>
            <a:pPr>
              <a:spcBef>
                <a:spcPts val="1200"/>
              </a:spcBef>
              <a:defRPr sz="1150">
                <a:solidFill>
                  <a:srgbClr val="F8FAFC"/>
                </a:solidFill>
              </a:defRPr>
            </a:pPr>
            <a:r>
              <a:t>3. Strict Report Decoupling: Guarantee that official laboratory reports remain legally immutable and independent from probabilistic ML inferences.</a:t>
            </a:r>
          </a:p>
          <a:p>
            <a:pPr>
              <a:spcBef>
                <a:spcPts val="1200"/>
              </a:spcBef>
              <a:defRPr sz="1150">
                <a:solidFill>
                  <a:srgbClr val="F8FAFC"/>
                </a:solidFill>
              </a:defRPr>
            </a:pPr>
            <a:r>
              <a:t>4. Five Validated Diagnostic Pipelines: Train, validate, and serialize specialized pipelines for Anemia, Dengue, Liver Disease, Thyroid Profile, and Malaria cell microscopy.</a:t>
            </a:r>
          </a:p>
          <a:p>
            <a:pPr>
              <a:spcBef>
                <a:spcPts val="1200"/>
              </a:spcBef>
              <a:defRPr sz="1150">
                <a:solidFill>
                  <a:srgbClr val="F8FAFC"/>
                </a:solidFill>
              </a:defRPr>
            </a:pPr>
            <a:r>
              <a:t>5. Empirical Synthetic Data Investigation: Conduct controlled synthetic data augmentation experiments (+25%, +50%, +100%) to establish evidence-based production model freezing.</a:t>
            </a:r>
          </a:p>
          <a:p>
            <a:pPr>
              <a:spcBef>
                <a:spcPts val="1200"/>
              </a:spcBef>
              <a:defRPr sz="1150">
                <a:solidFill>
                  <a:srgbClr val="F8FAFC"/>
                </a:solidFill>
              </a:defRPr>
            </a:pPr>
            <a:r>
              <a:t>6. Comprehensive Quality &amp; Security Assurance: Achieve 100% verification across 25 automated security, integration, and ML API test scenarios.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6366F1"/>
                </a:solidFill>
              </a:defRPr>
            </a:pPr>
            <a:r>
              <a:t>NEXUS PATHOLOGY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8FAFC"/>
                </a:solidFill>
              </a:defRPr>
            </a:pPr>
            <a:r>
              <a:t>Existing System vs. Proposed Nexus Pathology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5120640" cy="4754880"/>
          </a:xfrm>
          <a:prstGeom prst="roundRect">
            <a:avLst/>
          </a:prstGeom>
          <a:solidFill>
            <a:srgbClr val="111827"/>
          </a:solidFill>
          <a:ln w="1905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600200"/>
            <a:ext cx="475487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6B6D4"/>
                </a:solidFill>
              </a:defRPr>
            </a:pPr>
            <a:r>
              <a:t>⚠️ Existing Conventional System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103120"/>
            <a:ext cx="475488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  <a:defRPr sz="1100">
                <a:solidFill>
                  <a:srgbClr val="94A3B8"/>
                </a:solidFill>
              </a:defRPr>
            </a:pPr>
            <a:r>
              <a:t>• Manual paper slips or isolated flat spreadsheets</a:t>
            </a:r>
          </a:p>
          <a:p>
            <a:pPr>
              <a:spcBef>
                <a:spcPts val="1000"/>
              </a:spcBef>
              <a:defRPr sz="1100">
                <a:solidFill>
                  <a:srgbClr val="94A3B8"/>
                </a:solidFill>
              </a:defRPr>
            </a:pPr>
            <a:r>
              <a:t>• Insecure delivery via unencrypted emails or physical pickup</a:t>
            </a:r>
          </a:p>
          <a:p>
            <a:pPr>
              <a:spcBef>
                <a:spcPts val="1000"/>
              </a:spcBef>
              <a:defRPr sz="1100">
                <a:solidFill>
                  <a:srgbClr val="94A3B8"/>
                </a:solidFill>
              </a:defRPr>
            </a:pPr>
            <a:r>
              <a:t>• Unstructured text lacking biological reference ranges</a:t>
            </a:r>
          </a:p>
          <a:p>
            <a:pPr>
              <a:spcBef>
                <a:spcPts val="1000"/>
              </a:spcBef>
              <a:defRPr sz="1100">
                <a:solidFill>
                  <a:srgbClr val="94A3B8"/>
                </a:solidFill>
              </a:defRPr>
            </a:pPr>
            <a:r>
              <a:t>• No integrated computational decision-support tools</a:t>
            </a:r>
          </a:p>
          <a:p>
            <a:pPr>
              <a:spcBef>
                <a:spcPts val="1000"/>
              </a:spcBef>
              <a:defRPr sz="1100">
                <a:solidFill>
                  <a:srgbClr val="94A3B8"/>
                </a:solidFill>
              </a:defRPr>
            </a:pPr>
            <a:r>
              <a:t>• Casual record overwriting without audit tracking</a:t>
            </a:r>
          </a:p>
          <a:p>
            <a:pPr>
              <a:spcBef>
                <a:spcPts val="1000"/>
              </a:spcBef>
              <a:defRPr sz="1100">
                <a:solidFill>
                  <a:srgbClr val="94A3B8"/>
                </a:solidFill>
              </a:defRPr>
            </a:pPr>
            <a:r>
              <a:t>• Vulnerable to Insecure Direct Object References (IDOR)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463040"/>
            <a:ext cx="5120640" cy="4754880"/>
          </a:xfrm>
          <a:prstGeom prst="roundRect">
            <a:avLst/>
          </a:prstGeom>
          <a:solidFill>
            <a:srgbClr val="111827"/>
          </a:solidFill>
          <a:ln w="1905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1600200"/>
            <a:ext cx="475487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6B6D4"/>
                </a:solidFill>
              </a:defRPr>
            </a:pPr>
            <a:r>
              <a:t>✓ Proposed Nexus Pathology Platform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2103120"/>
            <a:ext cx="475488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  <a:defRPr sz="1100">
                <a:solidFill>
                  <a:srgbClr val="10B981"/>
                </a:solidFill>
              </a:defRPr>
            </a:pPr>
            <a:r>
              <a:t>• Centralized SQLite database with parameterized queries</a:t>
            </a:r>
          </a:p>
          <a:p>
            <a:pPr>
              <a:spcBef>
                <a:spcPts val="1000"/>
              </a:spcBef>
              <a:defRPr sz="1100">
                <a:solidFill>
                  <a:srgbClr val="10B981"/>
                </a:solidFill>
              </a:defRPr>
            </a:pPr>
            <a:r>
              <a:t>• Authenticated Patient Portal with cryptographic PBKDF2 PINs</a:t>
            </a:r>
          </a:p>
          <a:p>
            <a:pPr>
              <a:spcBef>
                <a:spcPts val="1000"/>
              </a:spcBef>
              <a:defRPr sz="1100">
                <a:solidFill>
                  <a:srgbClr val="10B981"/>
                </a:solidFill>
              </a:defRPr>
            </a:pPr>
            <a:r>
              <a:t>• Structured clinical reporting with dynamic abnormality flags</a:t>
            </a:r>
          </a:p>
          <a:p>
            <a:pPr>
              <a:spcBef>
                <a:spcPts val="1000"/>
              </a:spcBef>
              <a:defRPr sz="1100">
                <a:solidFill>
                  <a:srgbClr val="10B981"/>
                </a:solidFill>
              </a:defRPr>
            </a:pPr>
            <a:r>
              <a:t>• 5 specialized ML decision-support pipelines</a:t>
            </a:r>
          </a:p>
          <a:p>
            <a:pPr>
              <a:spcBef>
                <a:spcPts val="1000"/>
              </a:spcBef>
              <a:defRPr sz="1100">
                <a:solidFill>
                  <a:srgbClr val="10B981"/>
                </a:solidFill>
              </a:defRPr>
            </a:pPr>
            <a:r>
              <a:t>• Decoupled immutable reports + independent ML audit log</a:t>
            </a:r>
          </a:p>
          <a:p>
            <a:pPr>
              <a:spcBef>
                <a:spcPts val="1000"/>
              </a:spcBef>
              <a:defRPr sz="1100">
                <a:solidFill>
                  <a:srgbClr val="10B981"/>
                </a:solidFill>
              </a:defRPr>
            </a:pPr>
            <a:r>
              <a:t>• Robust RBAC, IDOR protection, and 100% automated test coverage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6366F1"/>
                </a:solidFill>
              </a:defRPr>
            </a:pPr>
            <a:r>
              <a:t>NEXUS PATHOLOGY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8FAFC"/>
                </a:solidFill>
              </a:defRPr>
            </a:pPr>
            <a:r>
              <a:t>System Architecture &amp; Decoupled Dataflow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10698480" cy="4754880"/>
          </a:xfrm>
          <a:prstGeom prst="roundRect">
            <a:avLst/>
          </a:prstGeom>
          <a:solidFill>
            <a:srgbClr val="111827"/>
          </a:solidFill>
          <a:ln w="1905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645920"/>
            <a:ext cx="101498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>
                <a:solidFill>
                  <a:srgbClr val="06B6D4"/>
                </a:solidFill>
                <a:latin typeface="Consolas"/>
              </a:defRPr>
            </a:pPr>
            <a:r>
              <a:t>                                NEXUS PATHOLOGY WEB PLATFORM</a:t>
            </a:r>
            <a:br/>
            <a:r>
              <a:t>                                              │</a:t>
            </a:r>
            <a:br/>
            <a:r>
              <a:t>                     ┌────────────────────────┴────────────────────────┐</a:t>
            </a:r>
            <a:br/>
            <a:r>
              <a:t>                     │                                                 │</a:t>
            </a:r>
            <a:br/>
            <a:r>
              <a:t>               ADMIN PORTAL                                      PATIENT PORTAL</a:t>
            </a:r>
            <a:br/>
            <a:r>
              <a:t>       (Staff Login / Report Authoring)                   (Patient ID + Security PIN)</a:t>
            </a:r>
            <a:br/>
            <a:r>
              <a:t>                     │                                                 │</a:t>
            </a:r>
            <a:br/>
            <a:r>
              <a:t>                     └────────────────────────┬────────────────────────┘</a:t>
            </a:r>
            <a:br/>
            <a:r>
              <a:t>                                              ▼</a:t>
            </a:r>
            <a:br/>
            <a:r>
              <a:t>                                    FastAPI RESTful Backend</a:t>
            </a:r>
            <a:br/>
            <a:r>
              <a:t>                               (RBAC &amp; IDOR Verification Middleware)</a:t>
            </a:r>
            <a:br/>
            <a:r>
              <a:t>                                              │</a:t>
            </a:r>
            <a:br/>
            <a:r>
              <a:t>                     ┌────────────────────────┴────────────────────────┐</a:t>
            </a:r>
            <a:br/>
            <a:r>
              <a:t>                     ▼                                                 ▼</a:t>
            </a:r>
            <a:br/>
            <a:r>
              <a:t>           SQLite Persistence Layer                           Machine Learning Layer</a:t>
            </a:r>
            <a:br/>
            <a:r>
              <a:t>         (patients, lab_reports, users)                     (5 Validated Scikit-Learn Pipelines)</a:t>
            </a:r>
            <a:br/>
            <a:r>
              <a:t>                     │                                                 │</a:t>
            </a:r>
            <a:br/>
            <a:r>
              <a:t>                     ▼                                                 ▼</a:t>
            </a:r>
            <a:br/>
            <a:r>
              <a:t>          Official Pathology Report                          Experimental ML Decision Support</a:t>
            </a:r>
            <a:br/>
            <a:r>
              <a:t>          (Immutable Medical Document)                       (Separate `ml_predictions` Audit Log)</a:t>
            </a:r>
            <a:b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6366F1"/>
                </a:solidFill>
              </a:defRPr>
            </a:pPr>
            <a:r>
              <a:t>NEXUS PATHOLOGY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8FAFC"/>
                </a:solidFill>
              </a:defRPr>
            </a:pPr>
            <a:r>
              <a:t>Technology Stack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3291840" cy="2286000"/>
          </a:xfrm>
          <a:prstGeom prst="roundRect">
            <a:avLst/>
          </a:prstGeom>
          <a:solidFill>
            <a:srgbClr val="111827"/>
          </a:solidFill>
          <a:ln w="1905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600200"/>
            <a:ext cx="29260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6B6D4"/>
                </a:solidFill>
              </a:defRPr>
            </a:pPr>
            <a:r>
              <a:t>Frontend Layer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1965960"/>
            <a:ext cx="301752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>
                <a:solidFill>
                  <a:srgbClr val="94A3B8"/>
                </a:solidFill>
              </a:defRPr>
            </a:pPr>
            <a:r>
              <a:t>• Semantic HTML5 &amp; Vanilla CSS3</a:t>
            </a:r>
            <a:br/>
            <a:r>
              <a:t>• Modern ES6+ JavaScript (Fetch API)</a:t>
            </a:r>
            <a:br/>
            <a:r>
              <a:t>• Responsive CSS Grid &amp; Flexbox</a:t>
            </a:r>
            <a:br/>
            <a:r>
              <a:t>• Dedicated @media print Stylesheet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1463040"/>
            <a:ext cx="3291840" cy="2286000"/>
          </a:xfrm>
          <a:prstGeom prst="roundRect">
            <a:avLst/>
          </a:prstGeom>
          <a:solidFill>
            <a:srgbClr val="111827"/>
          </a:solidFill>
          <a:ln w="1905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0" y="1600200"/>
            <a:ext cx="29260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6B6D4"/>
                </a:solidFill>
              </a:defRPr>
            </a:pPr>
            <a:r>
              <a:t>Backend &amp; API Layer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26280" y="1965960"/>
            <a:ext cx="301752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>
                <a:solidFill>
                  <a:srgbClr val="94A3B8"/>
                </a:solidFill>
              </a:defRPr>
            </a:pPr>
            <a:r>
              <a:t>• Python 3.12 Runtime</a:t>
            </a:r>
            <a:br/>
            <a:r>
              <a:t>• FastAPI 0.115+ (ASGI Framework)</a:t>
            </a:r>
            <a:br/>
            <a:r>
              <a:t>• Uvicorn 0.34+ (Async Web Server)</a:t>
            </a:r>
            <a:br/>
            <a:r>
              <a:t>• Pydantic v2 (Runtime Data Validation)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46720" y="1463040"/>
            <a:ext cx="3291840" cy="2286000"/>
          </a:xfrm>
          <a:prstGeom prst="roundRect">
            <a:avLst/>
          </a:prstGeom>
          <a:solidFill>
            <a:srgbClr val="111827"/>
          </a:solidFill>
          <a:ln w="1905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0" y="1600200"/>
            <a:ext cx="29260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6B6D4"/>
                </a:solidFill>
              </a:defRPr>
            </a:pPr>
            <a:r>
              <a:t>Database &amp; Persistence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83880" y="1965960"/>
            <a:ext cx="301752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>
                <a:solidFill>
                  <a:srgbClr val="94A3B8"/>
                </a:solidFill>
              </a:defRPr>
            </a:pPr>
            <a:r>
              <a:t>• SQLite 3 Relational Engine</a:t>
            </a:r>
            <a:br/>
            <a:r>
              <a:t>• Python Native sqlite3 Driver</a:t>
            </a:r>
            <a:br/>
            <a:r>
              <a:t>• Parameterized Queries (? syntax)</a:t>
            </a:r>
            <a:br/>
            <a:r>
              <a:t>• Online SQLite Backup API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3931920"/>
            <a:ext cx="3291840" cy="2286000"/>
          </a:xfrm>
          <a:prstGeom prst="roundRect">
            <a:avLst/>
          </a:prstGeom>
          <a:solidFill>
            <a:srgbClr val="111827"/>
          </a:solidFill>
          <a:ln w="1905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4069080"/>
            <a:ext cx="29260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6B6D4"/>
                </a:solidFill>
              </a:defRPr>
            </a:pPr>
            <a:r>
              <a:t>Machine Learning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4434840"/>
            <a:ext cx="301752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>
                <a:solidFill>
                  <a:srgbClr val="94A3B8"/>
                </a:solidFill>
              </a:defRPr>
            </a:pPr>
            <a:r>
              <a:t>• Scikit-Learn 1.6+ (Pipelines &amp; Models)</a:t>
            </a:r>
            <a:br/>
            <a:r>
              <a:t>• Joblib 1.4+ (Model Serialization)</a:t>
            </a:r>
            <a:br/>
            <a:r>
              <a:t>• Pandas 2.2+ &amp; NumPy 2.0+</a:t>
            </a:r>
            <a:br/>
            <a:r>
              <a:t>• 5 Specialized Classifiers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389120" y="3931920"/>
            <a:ext cx="3291840" cy="2286000"/>
          </a:xfrm>
          <a:prstGeom prst="roundRect">
            <a:avLst/>
          </a:prstGeom>
          <a:solidFill>
            <a:srgbClr val="111827"/>
          </a:solidFill>
          <a:ln w="1905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72000" y="4069080"/>
            <a:ext cx="29260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6B6D4"/>
                </a:solidFill>
              </a:defRPr>
            </a:pPr>
            <a:r>
              <a:t>Image Processing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26280" y="4434840"/>
            <a:ext cx="301752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>
                <a:solidFill>
                  <a:srgbClr val="94A3B8"/>
                </a:solidFill>
              </a:defRPr>
            </a:pPr>
            <a:r>
              <a:t>• OpenCV 4.10+ (cv2 in-memory decoding)</a:t>
            </a:r>
            <a:br/>
            <a:r>
              <a:t>• Multi-space color conversions (HSV/LAB)</a:t>
            </a:r>
            <a:br/>
            <a:r>
              <a:t>• Hu Moments &amp; GLCM Texture</a:t>
            </a:r>
            <a:br/>
            <a:r>
              <a:t>• 354-D Feature Extractor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046720" y="3931920"/>
            <a:ext cx="3291840" cy="2286000"/>
          </a:xfrm>
          <a:prstGeom prst="roundRect">
            <a:avLst/>
          </a:prstGeom>
          <a:solidFill>
            <a:srgbClr val="111827"/>
          </a:solidFill>
          <a:ln w="1905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29600" y="4069080"/>
            <a:ext cx="29260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6B6D4"/>
                </a:solidFill>
              </a:defRPr>
            </a:pPr>
            <a:r>
              <a:t>Security &amp; Testing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183880" y="4434840"/>
            <a:ext cx="301752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>
                <a:solidFill>
                  <a:srgbClr val="94A3B8"/>
                </a:solidFill>
              </a:defRPr>
            </a:pPr>
            <a:r>
              <a:t>• PBKDF2-HMAC-SHA256 (100k iters)</a:t>
            </a:r>
            <a:br/>
            <a:r>
              <a:t>• HMAC Signed Session Tokens</a:t>
            </a:r>
            <a:br/>
            <a:r>
              <a:t>• FastAPI TestClient &amp; unittest</a:t>
            </a:r>
            <a:br/>
            <a:r>
              <a:t>• 25/25 Automated Tests Passing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6366F1"/>
                </a:solidFill>
              </a:defRPr>
            </a:pPr>
            <a:r>
              <a:t>NEXUS PATHOLOGY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8FAFC"/>
                </a:solidFill>
              </a:defRPr>
            </a:pPr>
            <a:r>
              <a:t>Database Design &amp; Decoupled Schema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2468880" cy="4754880"/>
          </a:xfrm>
          <a:prstGeom prst="roundRect">
            <a:avLst/>
          </a:prstGeom>
          <a:solidFill>
            <a:srgbClr val="111827"/>
          </a:solidFill>
          <a:ln w="1905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600200"/>
            <a:ext cx="2103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6B6D4"/>
                </a:solidFill>
              </a:defRPr>
            </a:pPr>
            <a:r>
              <a:t>patients Table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1965960"/>
            <a:ext cx="2194560" cy="4160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>
                <a:solidFill>
                  <a:srgbClr val="94A3B8"/>
                </a:solidFill>
              </a:defRPr>
            </a:pPr>
            <a:r>
              <a:t>• id (PK)</a:t>
            </a:r>
            <a:br/>
            <a:r>
              <a:t>• patient_id (UK)</a:t>
            </a:r>
            <a:br/>
            <a:r>
              <a:t>• name, age, gender</a:t>
            </a:r>
            <a:br/>
            <a:r>
              <a:t>• contact, email</a:t>
            </a:r>
            <a:br/>
            <a:r>
              <a:t>• access_pin_hash (PBKDF2)</a:t>
            </a:r>
            <a:br/>
            <a:r>
              <a:t>• created_at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383280" y="1463040"/>
            <a:ext cx="2560320" cy="4754880"/>
          </a:xfrm>
          <a:prstGeom prst="roundRect">
            <a:avLst/>
          </a:prstGeom>
          <a:solidFill>
            <a:srgbClr val="111827"/>
          </a:solidFill>
          <a:ln w="1905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566160" y="1600200"/>
            <a:ext cx="21945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6B6D4"/>
                </a:solidFill>
              </a:defRPr>
            </a:pPr>
            <a:r>
              <a:t>lab_reports Table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520440" y="1965960"/>
            <a:ext cx="2286000" cy="4160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>
                <a:solidFill>
                  <a:srgbClr val="94A3B8"/>
                </a:solidFill>
              </a:defRPr>
            </a:pPr>
            <a:r>
              <a:t>• id (PK)</a:t>
            </a:r>
            <a:br/>
            <a:r>
              <a:t>• report_id (UK)</a:t>
            </a:r>
            <a:br/>
            <a:r>
              <a:t>• patient_id (FK)</a:t>
            </a:r>
            <a:br/>
            <a:r>
              <a:t>• test_category</a:t>
            </a:r>
            <a:br/>
            <a:r>
              <a:t>• status (Draft/Finalized)</a:t>
            </a:r>
            <a:br/>
            <a:r>
              <a:t>• lab_technician, remarks</a:t>
            </a:r>
            <a:br/>
            <a:r>
              <a:t>• report_data (JSON)</a:t>
            </a:r>
            <a:br/>
            <a:r>
              <a:t>• created_at, updated_at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26480" y="1463040"/>
            <a:ext cx="2651760" cy="4754880"/>
          </a:xfrm>
          <a:prstGeom prst="roundRect">
            <a:avLst/>
          </a:prstGeom>
          <a:solidFill>
            <a:srgbClr val="111827"/>
          </a:solidFill>
          <a:ln w="1905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09360" y="1600200"/>
            <a:ext cx="2286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6B6D4"/>
                </a:solidFill>
              </a:defRPr>
            </a:pPr>
            <a:r>
              <a:t>ml_predictions Table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63640" y="1965960"/>
            <a:ext cx="2377440" cy="4160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>
                <a:solidFill>
                  <a:srgbClr val="94A3B8"/>
                </a:solidFill>
              </a:defRPr>
            </a:pPr>
            <a:r>
              <a:t>• id (PK)</a:t>
            </a:r>
            <a:br/>
            <a:r>
              <a:t>• patient_id (FK)</a:t>
            </a:r>
            <a:br/>
            <a:r>
              <a:t>• report_id (FK)</a:t>
            </a:r>
            <a:br/>
            <a:r>
              <a:t>• disease, prediction</a:t>
            </a:r>
            <a:br/>
            <a:r>
              <a:t>• confidence, risk_level</a:t>
            </a:r>
            <a:br/>
            <a:r>
              <a:t>• model_version, model_used</a:t>
            </a:r>
            <a:br/>
            <a:r>
              <a:t>• input_snapshot (JSON)</a:t>
            </a:r>
            <a:br/>
            <a:r>
              <a:t>• disclaimer, created_at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961120" y="1463040"/>
            <a:ext cx="2468880" cy="4754880"/>
          </a:xfrm>
          <a:prstGeom prst="roundRect">
            <a:avLst/>
          </a:prstGeom>
          <a:solidFill>
            <a:srgbClr val="111827"/>
          </a:solidFill>
          <a:ln w="1905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0" y="1600200"/>
            <a:ext cx="2103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6B6D4"/>
                </a:solidFill>
              </a:defRPr>
            </a:pPr>
            <a:r>
              <a:t>users Table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098280" y="1965960"/>
            <a:ext cx="2194560" cy="4160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>
                <a:solidFill>
                  <a:srgbClr val="94A3B8"/>
                </a:solidFill>
              </a:defRPr>
            </a:pPr>
            <a:r>
              <a:t>• id (PK)</a:t>
            </a:r>
            <a:br/>
            <a:r>
              <a:t>• username (UK)</a:t>
            </a:r>
            <a:br/>
            <a:r>
              <a:t>• role (admin/staff)</a:t>
            </a:r>
            <a:br/>
            <a:r>
              <a:t>• password_hash (PBKDF2)</a:t>
            </a:r>
            <a:br/>
            <a:r>
              <a:t>• created_at</a:t>
            </a:r>
            <a:br/>
            <a:br/>
            <a:r>
              <a:t>🛡️ Decoupling Rule:</a:t>
            </a:r>
            <a:br/>
            <a:r>
              <a:t>ML inference never mutates lab_reports.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6366F1"/>
                </a:solidFill>
              </a:defRPr>
            </a:pPr>
            <a:r>
              <a:t>NEXUS PATHOLOGY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8FAFC"/>
                </a:solidFill>
              </a:defRPr>
            </a:pPr>
            <a:r>
              <a:t>Machine Learning Methodology &amp; Leakage Prevention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10698480" cy="4754880"/>
          </a:xfrm>
          <a:prstGeom prst="roundRect">
            <a:avLst/>
          </a:prstGeom>
          <a:solidFill>
            <a:srgbClr val="111827"/>
          </a:solidFill>
          <a:ln w="1905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645920"/>
            <a:ext cx="101498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  <a:defRPr sz="1100">
                <a:solidFill>
                  <a:srgbClr val="F8FAFC"/>
                </a:solidFill>
              </a:defRPr>
            </a:pPr>
            <a:r>
              <a:t>• 1. Data Ingestion &amp; Inspection: Structured datasets inspected for class distributions, physiological boundary validity, and missing values.</a:t>
            </a:r>
          </a:p>
          <a:p>
            <a:pPr>
              <a:spcBef>
                <a:spcPts val="1000"/>
              </a:spcBef>
              <a:defRPr sz="1100">
                <a:solidFill>
                  <a:srgbClr val="F8FAFC"/>
                </a:solidFill>
              </a:defRPr>
            </a:pPr>
            <a:r>
              <a:t>• 2. Leakage-Free Preprocessing: Scalers and encoders fitted strictly on training partitions. Zero target information used in feature transformations.</a:t>
            </a:r>
          </a:p>
          <a:p>
            <a:pPr>
              <a:spcBef>
                <a:spcPts val="1000"/>
              </a:spcBef>
              <a:defRPr sz="1100">
                <a:solidFill>
                  <a:srgbClr val="F8FAFC"/>
                </a:solidFill>
              </a:defRPr>
            </a:pPr>
            <a:r>
              <a:t>• 3. Stratified 80/20 Partitioning: Guaranteed proportional target class distribution across training and untouched holdout evaluation partitions.</a:t>
            </a:r>
          </a:p>
          <a:p>
            <a:pPr>
              <a:spcBef>
                <a:spcPts val="1000"/>
              </a:spcBef>
              <a:defRPr sz="1100">
                <a:solidFill>
                  <a:srgbClr val="F8FAFC"/>
                </a:solidFill>
              </a:defRPr>
            </a:pPr>
            <a:r>
              <a:t>• 4. Algorithm Benchmarking &amp; In-Fold CV: 5-Fold Cross-Validation with in-fold transformer fitting to evaluate generalization stability.</a:t>
            </a:r>
          </a:p>
          <a:p>
            <a:pPr>
              <a:spcBef>
                <a:spcPts val="1000"/>
              </a:spcBef>
              <a:defRPr sz="1100">
                <a:solidFill>
                  <a:srgbClr val="F8FAFC"/>
                </a:solidFill>
              </a:defRPr>
            </a:pPr>
            <a:r>
              <a:t>• 5. Cryptographic Duplicate Auditing: SHA-256 duplicate image detection in Malaria dataset identified and purged 25 duplicate images before retraining.</a:t>
            </a:r>
          </a:p>
          <a:p>
            <a:pPr>
              <a:spcBef>
                <a:spcPts val="1000"/>
              </a:spcBef>
              <a:defRPr sz="1100">
                <a:solidFill>
                  <a:srgbClr val="F8FAFC"/>
                </a:solidFill>
              </a:defRPr>
            </a:pPr>
            <a:r>
              <a:t>• 6. Pipeline Serialization: Trained Scikit-Learn pipelines serialized to models/ for isolated, zero-retraining runtime execution.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6366F1"/>
                </a:solidFill>
              </a:defRPr>
            </a:pPr>
            <a:r>
              <a:t>NEXUS PATHOLOGY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8FAFC"/>
                </a:solidFill>
              </a:defRPr>
            </a:pPr>
            <a:r>
              <a:t>Five Specialized Diagnostic ML Pipelines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5120640" cy="2286000"/>
          </a:xfrm>
          <a:prstGeom prst="roundRect">
            <a:avLst/>
          </a:prstGeom>
          <a:solidFill>
            <a:srgbClr val="111827"/>
          </a:solidFill>
          <a:ln w="1905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600200"/>
            <a:ext cx="475487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6B6D4"/>
                </a:solidFill>
              </a:defRPr>
            </a:pPr>
            <a:r>
              <a:t>🩸 Anemia (CBC)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1874520"/>
            <a:ext cx="4846320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94A3B8"/>
                </a:solidFill>
              </a:defRPr>
            </a:pPr>
            <a:r>
              <a:t>Algorithm: Logistic Regression</a:t>
            </a:r>
            <a:br/>
            <a:r>
              <a:t>Inputs: 11 Features (HGB, RBC, PCV, MCV, MCH, MCHC, RDW, TLC, PLT, Age, Sex)</a:t>
            </a:r>
            <a:br/>
            <a:r>
              <a:t>Target: Non-Anemic vs. Anemic</a:t>
            </a:r>
            <a:br/>
            <a:r>
              <a:t>Rationale: High linear separability of erythrocyte indices.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463040"/>
            <a:ext cx="5120640" cy="2286000"/>
          </a:xfrm>
          <a:prstGeom prst="roundRect">
            <a:avLst/>
          </a:prstGeom>
          <a:solidFill>
            <a:srgbClr val="111827"/>
          </a:solidFill>
          <a:ln w="1905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1600200"/>
            <a:ext cx="475487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6B6D4"/>
                </a:solidFill>
              </a:defRPr>
            </a:pPr>
            <a:r>
              <a:t>🦟 Dengue Hematology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55080" y="1874520"/>
            <a:ext cx="4846320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94A3B8"/>
                </a:solidFill>
              </a:defRPr>
            </a:pPr>
            <a:r>
              <a:t>Algorithm: Random Forest Classifier</a:t>
            </a:r>
            <a:br/>
            <a:r>
              <a:t>Inputs: 8 Features (Platelets, WBC, Differential, RBC, PDW, Hemoglobin, Age, Gender)</a:t>
            </a:r>
            <a:br/>
            <a:r>
              <a:t>Target: Negative vs. Positive</a:t>
            </a:r>
            <a:br/>
            <a:r>
              <a:t>Rationale: Captures non-linear platelet-leukocyte interactions.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931920"/>
            <a:ext cx="5120640" cy="2286000"/>
          </a:xfrm>
          <a:prstGeom prst="roundRect">
            <a:avLst/>
          </a:prstGeom>
          <a:solidFill>
            <a:srgbClr val="111827"/>
          </a:solidFill>
          <a:ln w="1905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4069080"/>
            <a:ext cx="475487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6B6D4"/>
                </a:solidFill>
              </a:defRPr>
            </a:pPr>
            <a:r>
              <a:t>🫁 Liver Disease (LFT)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4343400"/>
            <a:ext cx="4846320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94A3B8"/>
                </a:solidFill>
              </a:defRPr>
            </a:pPr>
            <a:r>
              <a:t>Algorithm: Gradient Boosting Classifier</a:t>
            </a:r>
            <a:br/>
            <a:r>
              <a:t>Inputs: 10 Features (Bilirubin, ALT, AST, ALP, Proteins, Albumin, A/G Ratio, Age, Gender)</a:t>
            </a:r>
            <a:br/>
            <a:r>
              <a:t>Target: Non-Liver vs. Liver Disease</a:t>
            </a:r>
            <a:br/>
            <a:r>
              <a:t>Rationale: High sensitivity (95.06% Recall) on complex boundaries.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0" y="3931920"/>
            <a:ext cx="5120640" cy="1097280"/>
          </a:xfrm>
          <a:prstGeom prst="roundRect">
            <a:avLst/>
          </a:prstGeom>
          <a:solidFill>
            <a:srgbClr val="111827"/>
          </a:solidFill>
          <a:ln w="1905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0" y="4069080"/>
            <a:ext cx="475487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6B6D4"/>
                </a:solidFill>
              </a:defRPr>
            </a:pPr>
            <a:r>
              <a:t>🦋 Thyroid Profile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55080" y="4343400"/>
            <a:ext cx="4846320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94A3B8"/>
                </a:solidFill>
              </a:defRPr>
            </a:pPr>
            <a:r>
              <a:t>Algorithm: Multinomial Logistic Regression</a:t>
            </a:r>
            <a:br/>
            <a:r>
              <a:t>Inputs: 5 Features (TSH, T4, T3, TSH Response, T3 Resin Uptake)</a:t>
            </a:r>
            <a:br/>
            <a:r>
              <a:t>Target: 3 Classes (Normal, Hyperthyroid, Hypothyroid)</a:t>
            </a:r>
            <a:br/>
            <a:r>
              <a:t>Rationale: Softmax probabilities on clustered hormone spectra.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17920" y="5120640"/>
            <a:ext cx="5120640" cy="1097280"/>
          </a:xfrm>
          <a:prstGeom prst="roundRect">
            <a:avLst/>
          </a:prstGeom>
          <a:solidFill>
            <a:srgbClr val="111827"/>
          </a:solidFill>
          <a:ln w="1905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0" y="5257800"/>
            <a:ext cx="475487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6B6D4"/>
                </a:solidFill>
              </a:defRPr>
            </a:pPr>
            <a:r>
              <a:t>🔬 Malaria (Microscopy)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55080" y="5532120"/>
            <a:ext cx="4846320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94A3B8"/>
                </a:solidFill>
              </a:defRPr>
            </a:pPr>
            <a:r>
              <a:t>Algorithm: Gradient Boosting + 354-D CV Extractor</a:t>
            </a:r>
            <a:br/>
            <a:r>
              <a:t>Inputs: Blood smear cell image (Color stats, HSV/LAB histograms, Hu moments, GLCM)</a:t>
            </a:r>
            <a:br/>
            <a:r>
              <a:t>Target: Uninfected vs. Parasitized (97.80% Recall)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6366F1"/>
                </a:solidFill>
              </a:defRPr>
            </a:pPr>
            <a:r>
              <a:t>NEXUS PATHOLOGY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8FAFC"/>
                </a:solidFill>
              </a:defRPr>
            </a:pPr>
            <a:r>
              <a:t>Model Results &amp; Performance Evaluation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10698480" cy="4754880"/>
          </a:xfrm>
          <a:prstGeom prst="roundRect">
            <a:avLst/>
          </a:prstGeom>
          <a:solidFill>
            <a:srgbClr val="111827"/>
          </a:solidFill>
          <a:ln w="1905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645920"/>
            <a:ext cx="101498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F8FAFC"/>
                </a:solidFill>
                <a:latin typeface="Consolas"/>
              </a:defRPr>
            </a:pPr>
            <a:r>
              <a:t>| Disease / Panel     | Selected Algorithm        | Holdout Accuracy | 5-Fold Cross-Validation | Primary Metric |</a:t>
            </a:r>
            <a:br/>
            <a:r>
              <a:t>|---------------------|---------------------------|------------------|-------------------------|----------------|</a:t>
            </a:r>
            <a:br/>
            <a:r>
              <a:t>| Anemia (CBC)        | Logistic Regression       | 100.00%          | 95.49% ± 1.64%          | F1: 100.00%    |</a:t>
            </a:r>
            <a:br/>
            <a:r>
              <a:t>| Dengue Hematology   | Random Forest Classifier  | 92.93%           | 91.30% ± 2.36%          | Recall: 93.10% |</a:t>
            </a:r>
            <a:br/>
            <a:r>
              <a:t>| Liver Disease (LFT) | Gradient Boosting         | 72.81%           | 69.30% ± 2.94%          | Recall: 95.06% |</a:t>
            </a:r>
            <a:br/>
            <a:r>
              <a:t>| Thyroid Profile     | Multinomial Logistic Reg  | 100.00%          | 95.81% ± 3.09%          | F1: 100.00%    |</a:t>
            </a:r>
            <a:br/>
            <a:r>
              <a:t>| Malaria Microscopy  | Gradient Boosting + CV    | 94.03% (Unseen)  | Strict Deduplicated Set  | Recall: 97.80% |</a:t>
            </a:r>
            <a:br/>
            <a:br/>
            <a:r>
              <a:t>Key Engineering &amp; Evaluation Insights:</a:t>
            </a:r>
            <a:br/>
            <a:r>
              <a:t>• Malaria Evaluation: Achieved 94.03% accuracy, 93.68% precision, 97.80% recall, and 95.70% F1 on strict unseen images.</a:t>
            </a:r>
            <a:br/>
            <a:r>
              <a:t>• Liver Optimization: Prioritized Sensitivity (95.06% Recall) to minimize dangerous False Negatives in hepatic triage.</a:t>
            </a:r>
            <a:br/>
            <a:r>
              <a:t>• ⚠️ Academic Clarification: 100% holdout scores reflect curated dataset separability — not clinical diagnostic certainty.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6366F1"/>
                </a:solidFill>
              </a:defRPr>
            </a:pPr>
            <a:r>
              <a:t>NEXUS PATHOLOGY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8FAFC"/>
                </a:solidFill>
              </a:defRPr>
            </a:pPr>
            <a:r>
              <a:t>Controlled Synthetic Data Experiment &amp; Findings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5120640" cy="4754880"/>
          </a:xfrm>
          <a:prstGeom prst="roundRect">
            <a:avLst/>
          </a:prstGeom>
          <a:solidFill>
            <a:srgbClr val="111827"/>
          </a:solidFill>
          <a:ln w="1905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600200"/>
            <a:ext cx="475487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6B6D4"/>
                </a:solidFill>
              </a:defRPr>
            </a:pPr>
            <a:r>
              <a:t>🔬 Experimental Design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011680"/>
            <a:ext cx="475488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defRPr sz="1050">
                <a:solidFill>
                  <a:srgbClr val="94A3B8"/>
                </a:solidFill>
              </a:defRPr>
            </a:pPr>
            <a:r>
              <a:t>• Goal: Determine whether synthetic data improves the four tabular models.</a:t>
            </a:r>
          </a:p>
          <a:p>
            <a:pPr>
              <a:spcBef>
                <a:spcPts val="800"/>
              </a:spcBef>
              <a:defRPr sz="1050">
                <a:solidFill>
                  <a:srgbClr val="94A3B8"/>
                </a:solidFill>
              </a:defRPr>
            </a:pPr>
            <a:r>
              <a:t>• Tested Ratios: +25%, +50%, and +100% synthetic augmentations.</a:t>
            </a:r>
          </a:p>
          <a:p>
            <a:pPr>
              <a:spcBef>
                <a:spcPts val="800"/>
              </a:spcBef>
              <a:defRPr sz="1050">
                <a:solidFill>
                  <a:srgbClr val="94A3B8"/>
                </a:solidFill>
              </a:defRPr>
            </a:pPr>
            <a:r>
              <a:t>• Strict Quarantine: Real 20% holdout test partition remained untouched.</a:t>
            </a:r>
          </a:p>
          <a:p>
            <a:pPr>
              <a:spcBef>
                <a:spcPts val="800"/>
              </a:spcBef>
              <a:defRPr sz="1050">
                <a:solidFill>
                  <a:srgbClr val="94A3B8"/>
                </a:solidFill>
              </a:defRPr>
            </a:pPr>
            <a:r>
              <a:t>• In-Fold Generation: Synthesis performed strictly inside training folds during 5-fold CV.</a:t>
            </a:r>
          </a:p>
          <a:p>
            <a:pPr>
              <a:spcBef>
                <a:spcPts val="800"/>
              </a:spcBef>
              <a:defRPr sz="1050">
                <a:solidFill>
                  <a:srgbClr val="94A3B8"/>
                </a:solidFill>
              </a:defRPr>
            </a:pPr>
            <a:r>
              <a:t>• Domain Clipping: Values constrained to realistic clinical min/max boundaries.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463040"/>
            <a:ext cx="5120640" cy="4754880"/>
          </a:xfrm>
          <a:prstGeom prst="roundRect">
            <a:avLst/>
          </a:prstGeom>
          <a:solidFill>
            <a:srgbClr val="111827"/>
          </a:solidFill>
          <a:ln w="1905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1600200"/>
            <a:ext cx="475487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6B6D4"/>
                </a:solidFill>
              </a:defRPr>
            </a:pPr>
            <a:r>
              <a:t>📊 Results &amp; Production Decision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2011680"/>
            <a:ext cx="475488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defRPr sz="1050">
                <a:solidFill>
                  <a:srgbClr val="F8FAFC"/>
                </a:solidFill>
              </a:defRPr>
            </a:pPr>
            <a:r>
              <a:t>• Liver Degradation: Holdout accuracy dropped from 72.81% down to 66.67% with 100% synthetic data.</a:t>
            </a:r>
          </a:p>
          <a:p>
            <a:pPr>
              <a:spcBef>
                <a:spcPts val="800"/>
              </a:spcBef>
              <a:defRPr sz="1050">
                <a:solidFill>
                  <a:srgbClr val="F8FAFC"/>
                </a:solidFill>
              </a:defRPr>
            </a:pPr>
            <a:r>
              <a:t>• Neutral on Linear Separations: Anemia and Thyroid showed zero statistical gain.</a:t>
            </a:r>
          </a:p>
          <a:p>
            <a:pPr>
              <a:spcBef>
                <a:spcPts val="800"/>
              </a:spcBef>
              <a:defRPr sz="1050">
                <a:solidFill>
                  <a:srgbClr val="F8FAFC"/>
                </a:solidFill>
              </a:defRPr>
            </a:pPr>
            <a:r>
              <a:t>• Dengue Degradation: Holdout accuracy dropped from 92.93% to 90.91%.</a:t>
            </a:r>
          </a:p>
          <a:p>
            <a:pPr>
              <a:spcBef>
                <a:spcPts val="800"/>
              </a:spcBef>
              <a:defRPr sz="1050">
                <a:solidFill>
                  <a:srgbClr val="F59E0B"/>
                </a:solidFill>
              </a:defRPr>
            </a:pPr>
            <a:r>
              <a:t>• FINAL DECISION: Synthetic augmentation did NOT improve real generalization.</a:t>
            </a:r>
          </a:p>
          <a:p>
            <a:pPr>
              <a:spcBef>
                <a:spcPts val="800"/>
              </a:spcBef>
              <a:defRPr sz="1050">
                <a:solidFill>
                  <a:srgbClr val="F59E0B"/>
                </a:solidFill>
              </a:defRPr>
            </a:pPr>
            <a:r>
              <a:t>• PRODUCTION RULE: Models are frozen strictly on real clinical data. Synthetic experiments remain research-only.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6366F1"/>
                </a:solidFill>
              </a:defRPr>
            </a:pPr>
            <a:r>
              <a:t>NEXUS PATHOLOGY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8FAFC"/>
                </a:solidFill>
              </a:defRPr>
            </a:pPr>
            <a:r>
              <a:t>Cybersecurity &amp; Data Privacy Controls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5120640" cy="2286000"/>
          </a:xfrm>
          <a:prstGeom prst="roundRect">
            <a:avLst/>
          </a:prstGeom>
          <a:solidFill>
            <a:srgbClr val="111827"/>
          </a:solidFill>
          <a:ln w="1905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600200"/>
            <a:ext cx="475487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6B6D4"/>
                </a:solidFill>
              </a:defRPr>
            </a:pPr>
            <a:r>
              <a:t>🔐 Authentication &amp; Hashing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011680"/>
            <a:ext cx="4754879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>
                <a:solidFill>
                  <a:srgbClr val="94A3B8"/>
                </a:solidFill>
              </a:defRPr>
            </a:pPr>
            <a:r>
              <a:t>PBKDF2-HMAC-SHA256 (100,000 iterations + 16-byte random salts) for staff passwords and patient PINs. Plaintext credentials are never stored.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463040"/>
            <a:ext cx="5120640" cy="2286000"/>
          </a:xfrm>
          <a:prstGeom prst="roundRect">
            <a:avLst/>
          </a:prstGeom>
          <a:solidFill>
            <a:srgbClr val="111827"/>
          </a:solidFill>
          <a:ln w="1905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1600200"/>
            <a:ext cx="475487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6B6D4"/>
                </a:solidFill>
              </a:defRPr>
            </a:pPr>
            <a:r>
              <a:t>🛡️ RBAC &amp; IDOR Defense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2011680"/>
            <a:ext cx="4754879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>
                <a:solidFill>
                  <a:srgbClr val="94A3B8"/>
                </a:solidFill>
              </a:defRPr>
            </a:pPr>
            <a:r>
              <a:t>Signed HMAC Bearer session tokens. Patient A cannot access Patient B's reports or ML history (rejected with HTTP 403 Forbidden).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931920"/>
            <a:ext cx="5120640" cy="2286000"/>
          </a:xfrm>
          <a:prstGeom prst="roundRect">
            <a:avLst/>
          </a:prstGeom>
          <a:solidFill>
            <a:srgbClr val="111827"/>
          </a:solidFill>
          <a:ln w="1905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4069080"/>
            <a:ext cx="475487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6B6D4"/>
                </a:solidFill>
              </a:defRPr>
            </a:pPr>
            <a:r>
              <a:t>💉 SQLi &amp; Input Validation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4480559"/>
            <a:ext cx="4754879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>
                <a:solidFill>
                  <a:srgbClr val="94A3B8"/>
                </a:solidFill>
              </a:defRPr>
            </a:pPr>
            <a:r>
              <a:t>Parameterized SQL queries (? syntax) neutralize SQL injection. Pydantic schemas enforce physiological boundary validation.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0" y="3931920"/>
            <a:ext cx="5120640" cy="2286000"/>
          </a:xfrm>
          <a:prstGeom prst="roundRect">
            <a:avLst/>
          </a:prstGeom>
          <a:solidFill>
            <a:srgbClr val="111827"/>
          </a:solidFill>
          <a:ln w="1905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0" y="4069080"/>
            <a:ext cx="475487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6B6D4"/>
                </a:solidFill>
              </a:defRPr>
            </a:pPr>
            <a:r>
              <a:t>🩸 Image &amp; Report Integrity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4480559"/>
            <a:ext cx="4754879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>
                <a:solidFill>
                  <a:srgbClr val="94A3B8"/>
                </a:solidFill>
              </a:defRPr>
            </a:pPr>
            <a:r>
              <a:t>Malaria upload capped at 5MB with OpenCV in-memory validation. Official lab reports are strictly immutable by ML analysis.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6366F1"/>
                </a:solidFill>
              </a:defRPr>
            </a:pPr>
            <a:r>
              <a:t>NEXUS PATHOLOGY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8FAFC"/>
                </a:solidFill>
              </a:defRPr>
            </a:pPr>
            <a:r>
              <a:t>Clinical Web Application Workflow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10698480" cy="4754880"/>
          </a:xfrm>
          <a:prstGeom prst="roundRect">
            <a:avLst/>
          </a:prstGeom>
          <a:solidFill>
            <a:srgbClr val="111827"/>
          </a:solidFill>
          <a:ln w="1905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645920"/>
            <a:ext cx="101498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06B6D4"/>
                </a:solidFill>
                <a:latin typeface="Consolas"/>
              </a:defRPr>
            </a:pPr>
            <a:r>
              <a:t>ADMIN / LAB STAFF WORKFLOW:</a:t>
            </a:r>
            <a:br/>
            <a:r>
              <a:t>  [1. Staff Login] ──&gt; [2. Register Patient] ──&gt; [3. Author Lab Report with Dynamic Panels]</a:t>
            </a:r>
            <a:br/>
            <a:r>
              <a:t>           │</a:t>
            </a:r>
            <a:br/>
            <a:r>
              <a:t>           ▼</a:t>
            </a:r>
            <a:br/>
            <a:r>
              <a:t>  [4. Save as Draft or Finalize Report] ──&gt; [5. Run Experimental ML Decision Support]</a:t>
            </a:r>
            <a:br/>
            <a:r>
              <a:t>           │</a:t>
            </a:r>
            <a:br/>
            <a:r>
              <a:t>           ▼</a:t>
            </a:r>
            <a:br/>
            <a:r>
              <a:t>  [6. ML Inferences Stored in Separate `ml_predictions` Table with Input Snapshots]</a:t>
            </a:r>
            <a:br/>
            <a:br/>
            <a:r>
              <a:t>PATIENT WORKFLOW:</a:t>
            </a:r>
            <a:br/>
            <a:r>
              <a:t>  [1. Patient Login via ID + PIN] ──&gt; [2. Access Personalized Dashboard (IDOR-Protected)]</a:t>
            </a:r>
            <a:br/>
            <a:r>
              <a:t>           │</a:t>
            </a:r>
            <a:br/>
            <a:r>
              <a:t>           ▼</a:t>
            </a:r>
            <a:br/>
            <a:r>
              <a:t>  [3. View Official Pathology Report Sheet with Biological Reference Ranges &amp; Doctor Remarks]</a:t>
            </a:r>
            <a:br/>
            <a:r>
              <a:t>           │</a:t>
            </a:r>
            <a:br/>
            <a:r>
              <a:t>           ▼</a:t>
            </a:r>
            <a:br/>
            <a:r>
              <a:t>  [4. View Decoupled ML Decision Support Card (Confidence, Risk Level, Model Provenance &amp; Disclaimer)]</a:t>
            </a:r>
            <a:br/>
            <a:r>
              <a:t>           │</a:t>
            </a:r>
            <a:br/>
            <a:r>
              <a:t>           ▼</a:t>
            </a:r>
            <a:br/>
            <a:r>
              <a:t>  [5. Generate Formatted Physical Laboratory Printout (@media print)]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6366F1"/>
                </a:solidFill>
              </a:defRPr>
            </a:pPr>
            <a:r>
              <a:t>NEXUS PATHOLOGY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8FAFC"/>
                </a:solidFill>
              </a:defRPr>
            </a:pPr>
            <a:r>
              <a:t>Testing, Verification &amp; Quality Assurance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3291840" cy="4754880"/>
          </a:xfrm>
          <a:prstGeom prst="roundRect">
            <a:avLst/>
          </a:prstGeom>
          <a:solidFill>
            <a:srgbClr val="111827"/>
          </a:solidFill>
          <a:ln w="1905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600200"/>
            <a:ext cx="29260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6B6D4"/>
                </a:solidFill>
              </a:defRPr>
            </a:pPr>
            <a:r>
              <a:t>Security Audit Suite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1965960"/>
            <a:ext cx="3017520" cy="4160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defRPr sz="1000">
                <a:solidFill>
                  <a:srgbClr val="10B981"/>
                </a:solidFill>
              </a:defRPr>
            </a:pPr>
            <a:r>
              <a:t>• 15 / 15 Tests Passed (100%)</a:t>
            </a:r>
            <a:br/>
            <a:r>
              <a:t>• Unauthorized access rejection (401)</a:t>
            </a:r>
            <a:br/>
            <a:r>
              <a:t>• IDOR cross-patient defense (403)</a:t>
            </a:r>
            <a:br/>
            <a:r>
              <a:t>• SQL injection payload immunity</a:t>
            </a:r>
            <a:br/>
            <a:r>
              <a:t>• Fake image &amp; oversized upload rejection</a:t>
            </a:r>
            <a:br/>
            <a:r>
              <a:t>• File isolation &amp; backup routines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1463040"/>
            <a:ext cx="3291840" cy="4754880"/>
          </a:xfrm>
          <a:prstGeom prst="roundRect">
            <a:avLst/>
          </a:prstGeom>
          <a:solidFill>
            <a:srgbClr val="111827"/>
          </a:solidFill>
          <a:ln w="1905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0" y="1600200"/>
            <a:ext cx="29260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6B6D4"/>
                </a:solidFill>
              </a:defRPr>
            </a:pPr>
            <a:r>
              <a:t>Pathology Integration Suite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26280" y="1965960"/>
            <a:ext cx="3017520" cy="4160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defRPr sz="1000">
                <a:solidFill>
                  <a:srgbClr val="10B981"/>
                </a:solidFill>
              </a:defRPr>
            </a:pPr>
            <a:r>
              <a:t>• 10 / 10 Tests Passed (100%)</a:t>
            </a:r>
            <a:br/>
            <a:r>
              <a:t>• Patient registration &amp; retrieval</a:t>
            </a:r>
            <a:br/>
            <a:r>
              <a:t>• Report creation &amp; status lifecycle</a:t>
            </a:r>
            <a:br/>
            <a:r>
              <a:t>• Anemia, Dengue, Liver &amp; Thyroid ML</a:t>
            </a:r>
            <a:br/>
            <a:r>
              <a:t>• Malaria image inference pipeline</a:t>
            </a:r>
            <a:br/>
            <a:r>
              <a:t>• Missing value error handling (422)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46720" y="1463040"/>
            <a:ext cx="3291840" cy="4754880"/>
          </a:xfrm>
          <a:prstGeom prst="roundRect">
            <a:avLst/>
          </a:prstGeom>
          <a:solidFill>
            <a:srgbClr val="111827"/>
          </a:solidFill>
          <a:ln w="1905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0" y="1600200"/>
            <a:ext cx="29260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6B6D4"/>
                </a:solidFill>
              </a:defRPr>
            </a:pPr>
            <a:r>
              <a:t>Consolidated QA Benchmark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83880" y="1965960"/>
            <a:ext cx="3017520" cy="4160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defRPr sz="1000">
                <a:solidFill>
                  <a:srgbClr val="10B981"/>
                </a:solidFill>
              </a:defRPr>
            </a:pPr>
            <a:r>
              <a:t>• 25 Distinct End-to-End Scenarios</a:t>
            </a:r>
            <a:br/>
            <a:r>
              <a:t>• 100% Pass Rate in 0.35s</a:t>
            </a:r>
            <a:br/>
            <a:r>
              <a:t>• Report Immutability Verified (Bit-for-bit equivalence before &amp; after ML)</a:t>
            </a:r>
            <a:br/>
            <a:r>
              <a:t>• Zero Model Retraining at Runtime</a:t>
            </a:r>
            <a:br/>
            <a:r>
              <a:t>• Pydantic Boundary Validation Active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6366F1"/>
                </a:solidFill>
              </a:defRPr>
            </a:pPr>
            <a:r>
              <a:t>NEXUS PATHOLOGY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8FAFC"/>
                </a:solidFill>
              </a:defRPr>
            </a:pPr>
            <a:r>
              <a:t>Conclusion &amp; Future Scope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5120640" cy="4754880"/>
          </a:xfrm>
          <a:prstGeom prst="roundRect">
            <a:avLst/>
          </a:prstGeom>
          <a:solidFill>
            <a:srgbClr val="111827"/>
          </a:solidFill>
          <a:ln w="1905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600200"/>
            <a:ext cx="475487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6B6D4"/>
                </a:solidFill>
              </a:defRPr>
            </a:pPr>
            <a:r>
              <a:t>📌 Project Conclusion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011680"/>
            <a:ext cx="475488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defRPr sz="1050">
                <a:solidFill>
                  <a:srgbClr val="F8FAFC"/>
                </a:solidFill>
              </a:defRPr>
            </a:pPr>
            <a:r>
              <a:t>• Successfully digitized pathology laboratory workflows with accredited reporting standards.</a:t>
            </a:r>
          </a:p>
          <a:p>
            <a:pPr>
              <a:spcBef>
                <a:spcPts val="800"/>
              </a:spcBef>
              <a:defRPr sz="1050">
                <a:solidFill>
                  <a:srgbClr val="F8FAFC"/>
                </a:solidFill>
              </a:defRPr>
            </a:pPr>
            <a:r>
              <a:t>• Integrated 5 specialized ML decision-support pipelines with high diagnostic sensitivity.</a:t>
            </a:r>
          </a:p>
          <a:p>
            <a:pPr>
              <a:spcBef>
                <a:spcPts val="800"/>
              </a:spcBef>
              <a:defRPr sz="1050">
                <a:solidFill>
                  <a:srgbClr val="F8FAFC"/>
                </a:solidFill>
              </a:defRPr>
            </a:pPr>
            <a:r>
              <a:t>• Established a strictly decoupled architecture preserving official report immutability.</a:t>
            </a:r>
          </a:p>
          <a:p>
            <a:pPr>
              <a:spcBef>
                <a:spcPts val="800"/>
              </a:spcBef>
              <a:defRPr sz="1050">
                <a:solidFill>
                  <a:srgbClr val="F8FAFC"/>
                </a:solidFill>
              </a:defRPr>
            </a:pPr>
            <a:r>
              <a:t>• Implemented cryptographic security, RBAC, and IDOR defenses with 100% test pass rate.</a:t>
            </a:r>
          </a:p>
          <a:p>
            <a:pPr>
              <a:spcBef>
                <a:spcPts val="800"/>
              </a:spcBef>
              <a:defRPr sz="1050">
                <a:solidFill>
                  <a:srgbClr val="F8FAFC"/>
                </a:solidFill>
              </a:defRPr>
            </a:pPr>
            <a:r>
              <a:t>• Formulates a responsible, transparent blueprint for AI in medical informatics.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463040"/>
            <a:ext cx="5120640" cy="4754880"/>
          </a:xfrm>
          <a:prstGeom prst="roundRect">
            <a:avLst/>
          </a:prstGeom>
          <a:solidFill>
            <a:srgbClr val="111827"/>
          </a:solidFill>
          <a:ln w="1905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1600200"/>
            <a:ext cx="475487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6B6D4"/>
                </a:solidFill>
              </a:defRPr>
            </a:pPr>
            <a:r>
              <a:t>🚀 Future Scope (Future Work)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2011680"/>
            <a:ext cx="475488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defRPr sz="1050">
                <a:solidFill>
                  <a:srgbClr val="06B6D4"/>
                </a:solidFill>
              </a:defRPr>
            </a:pPr>
            <a:r>
              <a:t>• Explainable AI: Integrate SHAP/LIME feature attribution plots for clinician transparency.</a:t>
            </a:r>
          </a:p>
          <a:p>
            <a:pPr>
              <a:spcBef>
                <a:spcPts val="800"/>
              </a:spcBef>
              <a:defRPr sz="1050">
                <a:solidFill>
                  <a:srgbClr val="06B6D4"/>
                </a:solidFill>
              </a:defRPr>
            </a:pPr>
            <a:r>
              <a:t>• Hospital Interoperability: Implement HL7 / FHIR v4 standards for EHR communication.</a:t>
            </a:r>
          </a:p>
          <a:p>
            <a:pPr>
              <a:spcBef>
                <a:spcPts val="800"/>
              </a:spcBef>
              <a:defRPr sz="1050">
                <a:solidFill>
                  <a:srgbClr val="06B6D4"/>
                </a:solidFill>
              </a:defRPr>
            </a:pPr>
            <a:r>
              <a:t>• Whole-Slide Imaging (WSI): Deep learning CNNs/ViTs for gigapixel digital microscopy.</a:t>
            </a:r>
          </a:p>
          <a:p>
            <a:pPr>
              <a:spcBef>
                <a:spcPts val="800"/>
              </a:spcBef>
              <a:defRPr sz="1050">
                <a:solidFill>
                  <a:srgbClr val="06B6D4"/>
                </a:solidFill>
              </a:defRPr>
            </a:pPr>
            <a:r>
              <a:t>• Enterprise Backend: Migration to clustered PostgreSQL with encrypted storage (TDE).</a:t>
            </a:r>
          </a:p>
          <a:p>
            <a:pPr>
              <a:spcBef>
                <a:spcPts val="800"/>
              </a:spcBef>
              <a:defRPr sz="1050">
                <a:solidFill>
                  <a:srgbClr val="06B6D4"/>
                </a:solidFill>
              </a:defRPr>
            </a:pPr>
            <a:r>
              <a:t>• Regulatory Compliance: Formal clinical validation and SaMD evaluation (CDSCO / FDA).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